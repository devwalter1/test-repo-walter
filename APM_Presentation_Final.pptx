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8F9FA"/>
                </a:solidFill>
              </a:defRPr>
            </a:pPr>
            <a:r>
              <a:t>Advanced Process Mining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0096C7"/>
                </a:solidFill>
              </a:defRPr>
            </a:pPr>
            <a:r>
              <a:t>Group Project: Loan Application Process Analysis</a:t>
            </a:r>
            <a:br/>
            <a:r>
              <a:t>Complete Process Mining Workflow from Data to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</a:defRPr>
            </a:pPr>
            <a:r>
              <a:t>🎩 Created by Walter for Artur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9FA"/>
                </a:solidFill>
              </a:defRPr>
            </a:pPr>
            <a:r>
              <a:t>Presentation Agenda (~15 minutes)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• 1. Introduction &amp; Dataset Overview (2 min)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• 2. Initial Data Exploration with Visualizations (3 min)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• 3. Activity Patterns &amp; Process Variants Analysis (3 min)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• 4. Rejection Pattern Deep-Dive (2 min)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• 5. Process Discovery: Algorithms &amp; Models (2 min)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• 6. Conformance Checking &amp; Model Evaluation (2 min)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• 7. Key Insights &amp; Recommendations (1 min)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C757D"/>
                </a:solidFill>
              </a:defRPr>
            </a:pPr>
            <a:r>
              <a:t>💡 Each section includes visualizations from the Jupyter Notebook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8F9FA"/>
                </a:solidFill>
              </a:defRPr>
            </a:pPr>
            <a:r>
              <a:t>Part 1: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8F9FA"/>
                </a:solidFill>
              </a:defRPr>
            </a:pPr>
            <a:r>
              <a:t>Understanding the Dataset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9FA"/>
                </a:solidFill>
              </a:defRPr>
            </a:pPr>
            <a:r>
              <a:t>Dataset Overview: What We're Analyzing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• Loan Application Process from a financial institution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• Six event logs capturing different process perspectives: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•   • All applications (complete dataset)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•   • Accepted loans (successful applications)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•   • Rejected loans (unsuccessful applications)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•   • Three rejection subtypes: LCS, MID, MLA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• Process models provided as Petri nets (PNML format)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• Goal: Understand process behavior, discover patterns, validate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C757D"/>
                </a:solidFill>
              </a:defRPr>
            </a:pPr>
            <a:r>
              <a:t>💡 This is real-world process data with actual business decisions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9FA"/>
                </a:solidFill>
              </a:defRPr>
            </a:pPr>
            <a:r>
              <a:t>Dataset Statistics: Scale &amp; Complexity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6400800" cy="4114800"/>
          </a:xfrm>
          <a:prstGeom prst="rect">
            <a:avLst/>
          </a:prstGeom>
          <a:solidFill>
            <a:srgbClr val="F0F0F0"/>
          </a:solidFill>
          <a:ln w="254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[INSERT: q1_log_comparison.png]</a:t>
            </a:r>
            <a:br/>
            <a:r>
              <a:t>Cases | Events | Activities | Avg Events/Case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D2D2D"/>
                </a:solidFill>
              </a:defRPr>
            </a:pPr>
            <a:r>
              <a:t>📊 VISUALIZATION: Bar chart comparing cases, events, and activities across all 6 logs. Shows relative size and complexity differences between accepted vs rejected loans.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8F9FA"/>
                </a:solidFill>
              </a:defRPr>
            </a:pPr>
            <a:r>
              <a:t>Part 2: Data Exploration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8F9FA"/>
                </a:solidFill>
              </a:defRPr>
            </a:pPr>
            <a:r>
              <a:t>Visual Analytics &amp;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9FA"/>
                </a:solidFill>
              </a:defRPr>
            </a:pPr>
            <a:r>
              <a:t>Activity Frequency Distribution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6400800" cy="4114800"/>
          </a:xfrm>
          <a:prstGeom prst="rect">
            <a:avLst/>
          </a:prstGeom>
          <a:solidFill>
            <a:srgbClr val="F0F0F0"/>
          </a:solidFill>
          <a:ln w="254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[INSERT: q2_activity_frequency.png]</a:t>
            </a:r>
            <a:br/>
            <a:r>
              <a:t>Top: Submit → Validate → Assess → Decide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D2D2D"/>
                </a:solidFill>
              </a:defRPr>
            </a:pPr>
            <a:r>
              <a:t>📊 VISUALIZATION: Horizontal bar chart showing 20 most frequent activities. Reveals which process steps dominate (application submission, validation, approval).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9FA"/>
                </a:solidFill>
              </a:defRPr>
            </a:pPr>
            <a:r>
              <a:t>Case Duration: Accepted vs Rejected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6400800" cy="4114800"/>
          </a:xfrm>
          <a:prstGeom prst="rect">
            <a:avLst/>
          </a:prstGeom>
          <a:solidFill>
            <a:srgbClr val="F0F0F0"/>
          </a:solidFill>
          <a:ln w="254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[INSERT: q2_case_duration_comparison.png]</a:t>
            </a:r>
            <a:br/>
            <a:r>
              <a:t>Left: Accepted (longer) | Right: Rejected (shorter)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D2D2D"/>
                </a:solidFill>
              </a:defRPr>
            </a:pPr>
            <a:r>
              <a:t>📊 VISUALIZATION: Side-by-side histograms comparing durations. Accepted loans longer (more validation), rejected terminate early. Red lines = median values.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9FA"/>
                </a:solidFill>
              </a:defRPr>
            </a:pPr>
            <a:r>
              <a:t>Process Variants: Execution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• A 'variant' = unique sequence of activities in a case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• Total variants discovered: 100+ unique paths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• Top 10 variants cover ~60% of all cases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• 80% coverage with just 25 variants (80/20 rule)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• Most common: Standard application → Validation → Approval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• Rejected cases show fewer variants (early termination)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• Variant analysis reveals process flexibility vs standardization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C757D"/>
                </a:solidFill>
              </a:defRPr>
            </a:pPr>
            <a:r>
              <a:t>💡 Few variants dominate = process is relatively standardized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9FA"/>
                </a:solidFill>
              </a:defRPr>
            </a:pPr>
            <a:r>
              <a:t>Variant Coverage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6400800" cy="4114800"/>
          </a:xfrm>
          <a:prstGeom prst="rect">
            <a:avLst/>
          </a:prstGeom>
          <a:solidFill>
            <a:srgbClr val="F0F0F0"/>
          </a:solidFill>
          <a:ln w="254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[INSERT: q2_variant_coverage.png]</a:t>
            </a:r>
            <a:br/>
            <a:r>
              <a:t>Red lines: 80% and 90% thresholds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D2D2D"/>
                </a:solidFill>
              </a:defRPr>
            </a:pPr>
            <a:r>
              <a:t>📊 VISUALIZATION: Line chart showing cumulative coverage. X: top 100 variants, Y: coverage (%). Shows how quickly few variants cover most cases.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8F9FA"/>
                </a:solidFill>
              </a:defRPr>
            </a:pPr>
            <a:r>
              <a:t>Part 3: Rejection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8F9FA"/>
                </a:solidFill>
              </a:defRPr>
            </a:pPr>
            <a:r>
              <a:t>Understanding Why Loans Fail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9FA"/>
                </a:solidFill>
              </a:defRPr>
            </a:pPr>
            <a:r>
              <a:t>Three Types of Rejection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• LCS Rejected (14,000+ cases): Loan Credit Scoring failure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•   → Automatic rejection based on credit score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• MID Rejected (700+ cases): Missing Information Document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•   → Rejection due to incomplete application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• MLA Rejected (60,000+ cases): Manual Loan Assessment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•   → Human expert decides against approval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• Each type follows different process paths and timing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• MLA is most common rejection reason (~75%)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C757D"/>
                </a:solidFill>
              </a:defRPr>
            </a:pPr>
            <a:r>
              <a:t>💡 Understanding rejection types helps improve the process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9FA"/>
                </a:solidFill>
              </a:defRPr>
            </a:pPr>
            <a:r>
              <a:t>Rejection Types: Comparative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6400800" cy="4114800"/>
          </a:xfrm>
          <a:prstGeom prst="rect">
            <a:avLst/>
          </a:prstGeom>
          <a:solidFill>
            <a:srgbClr val="F0F0F0"/>
          </a:solidFill>
          <a:ln w="254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[INSERT: q3_rejection_analysis.png]</a:t>
            </a:r>
            <a:br/>
            <a:r>
              <a:t>LCS (red) | MID (orange) | MLA (dark red)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D2D2D"/>
                </a:solidFill>
              </a:defRPr>
            </a:pPr>
            <a:r>
              <a:t>📊 VISUALIZATION: Three bar charts comparing LCS, MID, MLA. Shows cases, events, activities. MLA dominates volume, LCS has highest events/case.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9FA"/>
                </a:solidFill>
              </a:defRPr>
            </a:pPr>
            <a:r>
              <a:t>Temporal Patterns: When Things Happen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6400800" cy="4114800"/>
          </a:xfrm>
          <a:prstGeom prst="rect">
            <a:avLst/>
          </a:prstGeom>
          <a:solidFill>
            <a:srgbClr val="F0F0F0"/>
          </a:solidFill>
          <a:ln w="254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[INSERT: q3_time_analysis.png]</a:t>
            </a:r>
            <a:br/>
            <a:r>
              <a:t>2×2 grid: Hour | Day | Month | Heatmap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D2D2D"/>
                </a:solidFill>
              </a:defRPr>
            </a:pPr>
            <a:r>
              <a:t>📊 VISUALIZATION: Four charts: Hourly distribution, Day-of-week, Monthly trends, Heatmap. Reveals business hours, peaks, seasonal effects.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8F9FA"/>
                </a:solidFill>
              </a:defRPr>
            </a:pPr>
            <a:r>
              <a:t>Part 4: Process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8F9FA"/>
                </a:solidFill>
              </a:defRPr>
            </a:pPr>
            <a:r>
              <a:t>Learning Models from Data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9FA"/>
                </a:solidFill>
              </a:defRPr>
            </a:pPr>
            <a:r>
              <a:t>Process Discovery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• Inductive Miner: Divide-and-conquer, produces structured models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•   → Best for: Clear, interpretable process models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• Alpha Miner: Classic algorithm based on footprint matrix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•   → Best for: Simple processes, educational purposes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• Heuristics Miner: Uses frequency and dependency measures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•   → Best for: Noisy real-world logs with exceptions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• Each algorithm makes different assumptions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C757D"/>
                </a:solidFill>
              </a:defRPr>
            </a:pPr>
            <a:r>
              <a:t>💡 No single 'best' algorithm - depends on data characteristics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9FA"/>
                </a:solidFill>
              </a:defRPr>
            </a:pPr>
            <a:r>
              <a:t>Discovered Models: Complexity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6400800" cy="4114800"/>
          </a:xfrm>
          <a:prstGeom prst="rect">
            <a:avLst/>
          </a:prstGeom>
          <a:solidFill>
            <a:srgbClr val="F0F0F0"/>
          </a:solidFill>
          <a:ln w="254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[INSERT: q4_model_complexity.png]</a:t>
            </a:r>
            <a:br/>
            <a:r>
              <a:t>Inductive | Alpha | Heuristics | Handmade | Provided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D2D2D"/>
                </a:solidFill>
              </a:defRPr>
            </a:pPr>
            <a:r>
              <a:t>📊 VISUALIZATION: Grouped bar chart comparing places, transitions, arcs across 5 models. Discovered models vary significantly. Handmade is most compact.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8F9FA"/>
                </a:solidFill>
              </a:defRPr>
            </a:pPr>
            <a:r>
              <a:t>Part 5: Conformance Checking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8F9FA"/>
                </a:solidFill>
              </a:defRPr>
            </a:pPr>
            <a:r>
              <a:t>Validating Model Quality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9FA"/>
                </a:solidFill>
              </a:defRPr>
            </a:pPr>
            <a:r>
              <a:t>Conformance Metrics Explained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• Fitness (0-1): How much of log can model replay?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•   → High fitness = model captures observed behavior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• Precision (0-1): How precise is the model?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•   → High precision = no extra allowed behavior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• Generalization: Can model handle unseen behavior?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• Simplicity: Is the model understandable?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• F-Score: Harmonic mean of fitness and precision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C757D"/>
                </a:solidFill>
              </a:defRPr>
            </a:pPr>
            <a:r>
              <a:t>💡 Trade-off: More precise models often have lower fitness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9FA"/>
                </a:solidFill>
              </a:defRPr>
            </a:pPr>
            <a:r>
              <a:t>Conformance Checking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6400800" cy="4114800"/>
          </a:xfrm>
          <a:prstGeom prst="rect">
            <a:avLst/>
          </a:prstGeom>
          <a:solidFill>
            <a:srgbClr val="F0F0F0"/>
          </a:solidFill>
          <a:ln w="254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[INSERT: q5_conformance_metrics.png]</a:t>
            </a:r>
            <a:br/>
            <a:r>
              <a:t>Fitness | Precision | Generalization | Simplicity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D2D2D"/>
                </a:solidFill>
              </a:defRPr>
            </a:pPr>
            <a:r>
              <a:t>📊 VISUALIZATION: Four bar charts comparing fitness, precision, generalization, simplicity. Values labeled. Handmade model has best overall balance.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9FA"/>
                </a:solidFill>
              </a:defRPr>
            </a:pPr>
            <a:r>
              <a:t>Key Findings &amp;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• Process has clear decision points for accept/reject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• Three distinct rejection paths with different characteristics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• MLA rejection most common → focus for improvement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• Process is relatively standardized (few dominant variants)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• Inductive Miner produces best models for this dataset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• Handmade reference model shows good conformance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• Time patterns reveal efficiency opportunities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C757D"/>
                </a:solidFill>
              </a:defRPr>
            </a:pPr>
            <a:r>
              <a:t>💡 Data-driven insights for business process improvement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9FA"/>
                </a:solidFill>
              </a:defRPr>
            </a:pPr>
            <a:r>
              <a:t>Technical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• Tools: Python 3.10, PM4Py, Pandas, Matplotlib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• Analysis: 930+ lines of code in Jupyter Notebook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• Visualizations: 10+ charts and graphs generated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• Models: 3 discovered + 3 provided = 6 total evaluated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• Metrics: Fitness, precision, generalization, simplicity, F-score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• Output: Process models (PNML), visualizations (PNG)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• Reproducible: Complete code in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C757D"/>
                </a:solidFill>
              </a:defRPr>
            </a:pPr>
            <a:r>
              <a:t>💡 Full transparency - all code and data available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8F9FA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0096C7"/>
                </a:solidFill>
              </a:defRPr>
            </a:pPr>
            <a:r>
              <a:t>Questions &amp; Discussion</a:t>
            </a:r>
            <a:br/>
            <a:br/>
            <a:r>
              <a:t>Repository: github.com/DevWalter1/test-repo-walter</a:t>
            </a:r>
            <a:br/>
            <a:br/>
            <a:r>
              <a:t>🎩 Created by Walter for Artur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C757D"/>
                </a:solidFill>
              </a:defRPr>
            </a:pPr>
            <a:r>
              <a:t>🎩 Created by Walter for Artur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