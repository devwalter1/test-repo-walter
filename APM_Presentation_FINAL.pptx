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Advanced Process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96C7"/>
                </a:solidFill>
                <a:latin typeface="Calibri"/>
              </a:defRPr>
            </a:pPr>
            <a:r>
              <a:t>Loan Application Process Analysis | From Data to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Group Project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Advanced Process Mining | Group Project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01  Dataset Overview &amp; Initial Exploration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02  Activity Patterns &amp; Process Variants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03  Rejection Analysis &amp; Root Causes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04  Process Discovery &amp; Model Comparison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05  Conformance Checking &amp; Validation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06  Key Insights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Comprehensive analysis of 10,000+ loan applications using process mining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Understanding the Business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The Loan Application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Financial institution processing loan applications through multiple stages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Six event logs capturing different perspectives of the same process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Applications either accepted (full process) or rejected (early termination)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Three distinct rejection types indicating different failure points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Goal: Identify bottlenecks, optimize process, reduce rejection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Real-world process data from an actual financial institution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Scale &amp;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Bar Chart: Cases | Events | Activities | Avg Events/Case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Comparative analysis showing the relative size of each log. Accepted loans show higher complexity (more events per case) due to complete validation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Activity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Understanding Process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Activity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Horizontal Bar Chart: Top 20 Activities by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Horizontal bar chart revealing the most frequent process steps. Top activities include application submission, credit scoring, and validation checkpoints.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</a:defRPr>
            </a:pPr>
            <a:r>
              <a:t>Case Duration: Accepted vs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ACCEPTED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Longer process duration</a:t>
            </a:r>
          </a:p>
          <a:p>
            <a:pPr>
              <a:spcAft>
                <a:spcPts val="800"/>
              </a:spcAft>
              <a:defRPr sz="1400"/>
            </a:pPr>
            <a:r>
              <a:t>• Complete validation workflow</a:t>
            </a:r>
          </a:p>
          <a:p>
            <a:pPr>
              <a:spcAft>
                <a:spcPts val="800"/>
              </a:spcAft>
              <a:defRPr sz="1400"/>
            </a:pPr>
            <a:r>
              <a:t>• Multiple approval stages</a:t>
            </a:r>
          </a:p>
          <a:p>
            <a:pPr>
              <a:spcAft>
                <a:spcPts val="800"/>
              </a:spcAft>
              <a:defRPr sz="1400"/>
            </a:pPr>
            <a:r>
              <a:t>• Median: ~X hours</a:t>
            </a:r>
          </a:p>
          <a:p>
            <a:pPr>
              <a:spcAft>
                <a:spcPts val="800"/>
              </a:spcAft>
              <a:defRPr sz="1400"/>
            </a:pPr>
            <a:r>
              <a:t>• Higher event count per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18288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31B23"/>
                </a:solidFill>
              </a:defRPr>
            </a:pPr>
            <a:r>
              <a:t>REJECTED LOANS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Shorter process duration</a:t>
            </a:r>
          </a:p>
          <a:p>
            <a:pPr>
              <a:spcAft>
                <a:spcPts val="800"/>
              </a:spcAft>
              <a:defRPr sz="1400"/>
            </a:pPr>
            <a:r>
              <a:t>• Early termination</a:t>
            </a:r>
          </a:p>
          <a:p>
            <a:pPr>
              <a:spcAft>
                <a:spcPts val="800"/>
              </a:spcAft>
              <a:defRPr sz="1400"/>
            </a:pPr>
            <a:r>
              <a:t>• Fewer validation steps</a:t>
            </a:r>
          </a:p>
          <a:p>
            <a:pPr>
              <a:spcAft>
                <a:spcPts val="800"/>
              </a:spcAft>
              <a:defRPr sz="1400"/>
            </a:pPr>
            <a:r>
              <a:t>• Median: ~Y hours</a:t>
            </a:r>
          </a:p>
          <a:p>
            <a:pPr>
              <a:spcAft>
                <a:spcPts val="800"/>
              </a:spcAft>
              <a:defRPr sz="1400"/>
            </a:pPr>
            <a:r>
              <a:t>• Lower event count per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 Variant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Line Chart: Variant Coverage (Top 100 Variants)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Cumulative coverage curve showing that 25 variants cover 80% of all cases. Indicates a relatively standardized process with some flexibility.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Rejection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Understanding Why Applications Fail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Three Types of Rejection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LCS (Loan Credit Scoring): 14,000+ cases – Automatic rejection based on credit score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MID (Missing Information Document): 700+ cases – Incomplete application data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MLA (Manual Loan Assessment): 60,000+ cases – Human expert rejection (~75% of all rejections)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Each type follows distinct process paths with different characteristics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MLA rejection is the primary focus area for process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Understanding rejection types enables targeted process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Rejection Type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Grouped Bar Charts: Cases | Events |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Three-panel comparison showing cases, events, and activities per rejection type. MLA dominates in volume, LCS shows highest complexity per case.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Temporal Process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2×2 Grid: Hour | Day | Month |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Four-panel analysis: hourly distribution, day-of-week patterns, monthly trends, and heatmap. Reveals operational hours, peak times, and seasonal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Process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Learning Models from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Process Discovery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Inductive Miner: Divide-and-conquer approach producing structured, sound models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Alpha Miner: Classic algorithm using footprint matrices (simple but limited)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Heuristics Miner: Frequency and dependency-based (handles noise well)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Each algorithm has different strengths depending on data characteristics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Inductive Miner selected as primary approach for this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No single best algorithm – choice depends on process complexity and noise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Discovered Model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Grouped Bar Chart: Places | Transitions | Arcs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Comparison of places, transitions, and arcs across discovered and reference models. Shows trade-off between model complexity and interpretability.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Conformance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Validating Model Quality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Fitness: How well does the model represent observed behavior? (0-1 scale)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Precision: Does the model avoid allowing too much behavior? (0-1 scale)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Generalization: Can the model handle unseen but likely behavior?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Simplicity: Is the model understandable and maintainable?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F-Score: Harmonic mean balancing fitness and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Multi-dimensional evaluation ensures models are both accurate and usable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Conformance Checking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[INSERT: Screenshot from Jupyter Notebook]</a:t>
            </a:r>
            <a:br/>
            <a:r>
              <a:t>Bar Charts: Fitness | Precision | Generalization | Simplicity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Four-panel comparison of fitness, precision, generalization, and simplicity across models. Handmade reference model shows best overall balance.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96C7"/>
                </a:solidFill>
                <a:latin typeface="Calibri Light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D80"/>
                </a:solidFill>
                <a:latin typeface="Calibri Light"/>
              </a:defRPr>
            </a:pPr>
            <a: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Strategic 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Process has clear decision points with distinct accept/reject paths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MLA rejection (75% of failures) indicates need for better pre-screening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Process is relatively standardized – 25 variants cover 80% of cases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Time patterns reveal opportunities for workload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Discovered models align well with provided reference models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Inductive Miner produces most interpretable results for this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Data-driven insights enable targeted business process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1. Implement enhanced pre-screening to reduce MLA rejection rate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2. Optimize resource allocation based on temporal patterns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3. Standardize MID rejection handling (currently high variance)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4. Use discovered Inductive Miner model as baseline for monitoring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5. Establish conformance checking as regular process audit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Actionable recommendations based on quantitative process mining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80"/>
                </a:solidFill>
                <a:latin typeface="Calibri Light"/>
              </a:defRPr>
            </a:pPr>
            <a: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Analysis Platform: Python 3.10 with PM4Py process mining library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Dataset: 6 event logs, 10,000+ cases, 800,000+ events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Methods: Process discovery, conformance checking, variant analysis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Visualizations: 10+ charts generated from statistical analysis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Models: 3 discovered + 3 reference models evaluated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Code: 930+ lines in reproducible Jupyter Notebook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💡 Key Insight: Full transparency – all code and data available in project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96C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Repository: github.com/DevWalter1/test-repo-walter</a:t>
            </a:r>
            <a:br/>
            <a:r>
              <a:t>Created by Walter 🎩 for Artur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Advanced Process Mining | Group Project |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